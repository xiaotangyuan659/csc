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57" r:id="rId8"/>
    <p:sldId id="264" r:id="rId9"/>
    <p:sldId id="258" r:id="rId10"/>
    <p:sldId id="259" r:id="rId11"/>
    <p:sldId id="263" r:id="rId12"/>
    <p:sldId id="260" r:id="rId13"/>
    <p:sldId id="261" r:id="rId14"/>
    <p:sldId id="265" r:id="rId15"/>
    <p:sldId id="26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83" autoAdjust="0"/>
  </p:normalViewPr>
  <p:slideViewPr>
    <p:cSldViewPr snapToGrid="0" showGuides="1">
      <p:cViewPr varScale="1">
        <p:scale>
          <a:sx n="60" d="100"/>
          <a:sy n="60" d="100"/>
        </p:scale>
        <p:origin x="882" y="21"/>
      </p:cViewPr>
      <p:guideLst>
        <p:guide orient="horz" pos="16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各位老师、同学，大家好。我是张斐枫，我们组的另一位成员是薛婷妤。我们开题报告的题目是：基于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 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和混淆集增强的中文拼写纠错模型构建。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首先，简单说一下我们为什么选这个方向。中文拼写纠错是自然语言处理里的一个经典又很实用的任务。从技术角度看，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Masked Language Model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任务，也就是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，天然就是在预测被掩码的字，这和纠错的逻辑高度一致。所以我们认为，用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来做中文拼写纠错，是一个很自然、也很主流的思路。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更重要的是，这个选题和课程要求非常吻合。我们计划从零构建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的核心组件，包括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Tokenizer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、多头自注意力、前馈网络、层归一化和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头。这正好覆盖了课程强调的“从零构建大模型关键技术内容”的要求，属于构建型课题。同时，我们会引入混淆集作为先验知识去增强模型，这也可以看作是对现有方法的一种改进和探索。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首先，简单说一下我们为什么选这个方向。中文拼写纠错是自然语言处理里的一个经典又很实用的任务。从技术角度看，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Masked Language Model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任务，也就是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，天然就是在预测被掩码的字，这和纠错的逻辑高度一致。所以我们认为，用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来做中文拼写纠错，是一个很自然、也很主流的思路。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更重要的是，这个选题和课程要求非常吻合。我们计划从零构建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的核心组件，包括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Tokenizer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、多头自注意力、前馈网络、层归一化和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头。这正好覆盖了课程强调的“从零构建大模型关键技术内容”的要求，属于构建型课题。同时，我们会引入混淆集作为先验知识去增强模型，这也可以看作是对现有方法的一种改进和探索。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接下来，介绍我们的技术方案和整体架构。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整个项目的技术路线分为四个阶段：数据准备、模型构建、预训练，然后是微调与评估。在模型构建上，我们会基于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BERT Encoder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结构从零搭建。具体来说，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Tokenizer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部分，我们使用哈工大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Chinese-BERT-wwm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的词表来做中文分词和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ID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映射。编码器部分，会手写多头自注意力机制和前馈网络，来捕捉字符之间的上下文关联，并用层归一化来稳定训练过程。最后，在输出端加上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 Head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，通过预测被掩码位置的原始字符，来实现基本的纠错逻辑。训练流程上，我们有预训练和微调两个关键环节。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预训练阶段，我们会在人工构造的大规模错误文本上，用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任务让模型学习基础语言规律，建立起初步的错字识别能力。然后，在微调阶段，引入专业的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CSC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数据集进行监督微调，把通用模型能力迁移并适配到中文纠错这个具体场景。最终评估时，我们会从检测和纠正两个维度，分别计算精确率、召回率和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值，来全面衡量模型性能。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接下来是本项目最核心的创新点：混淆集增强。在实际中文书写错误里，很大一部分是因音近或形近造成的，比如“在”和“再”，或者“己”和“已”，这是有规律可循的。因此，我们计划构建一套高质量的音近、形近混淆集，并在训练过程中，将这些混淆对作为先验知识引入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  <a:endParaRPr kumimoji="0" lang="cs-CZ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具体做法是，在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MLM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预训练或微调阶段，当需要生成错误的训练样本时，不是随机替换任意字，而是优先从混淆集中选择对应的高频易错字进行替换。这样一来，模型会被刻意、反复地暴露在最容易出错的字对面前，从而更有针对性地强化对这些混淆字的辨别和纠错能力。这相当于给模型划了“重点范围”，让它把学习精力放在真正容易出问题的地方，而不是漫无目的地学习所有可能的错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  <a:endParaRPr kumimoji="0" lang="cs-CZ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然后，这个项目能使用的中文数据、资源以及模型基座是比较丰富易得的。数据集方面，我们有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MD-CSC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多领域中文纠错数据集，覆盖法律、医疗等垂直领域；还有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SIGHAN 2015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这种公认的标准评测集来做基准测试。此外，我们还会使用社区里开源的中文文本纠错数据，以及哈工大讯飞联合实验室整理的资源汇总，所以数据层面是比较充足的。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工具和模型参考方面，我们会参考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Chinese-BERT-wwm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预训练模型，来保证基础的语言理解能力。混淆集的构建，会利用输入法词库转换工具提取同音混淆对，再结合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homoglyph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库构建形近字混淆集。参考的代码和模型在开源在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GitHub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的进度安排和预期成果。我们将项目分为六个阶段，从数据准备到最终报告撰写，共计13周。项目的核心产出包括四个方面：一个从零实现的、具备轻量级特性的中文拼写纠错模型；在SIGHAN等标准数据集上，包含精确率、召回率、F1值的完整评测结果；一套可复用的音近/形近混淆集构建方法及代码；以及一份严谨的对比实验分析报告，以充分验证混淆集增强方法对提升纠错性能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的进度安排和预期成果。我们将项目分为六个阶段，从数据准备到最终报告撰写，共计13周。项目的核心产出包括四个方面：一个从零实现的、具备轻量级特性的中文拼写纠错模型；在SIGHAN等标准数据集上，包含精确率、召回率、F1值的完整评测结果；一套可复用的音近/形近混淆集构建方法及代码；以及一份严谨的对比实验分析报告，以充分验证混淆集增强方法对提升纠错性能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.sv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sv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0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基于BERT</a:t>
            </a:r>
            <a:r>
              <a:rPr lang="en-US" sz="4800" b="1" i="0" u="none" strike="noStrik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MLM和混淆集增强的</a:t>
            </a:r>
            <a:endParaRPr lang="en-US" sz="4800" b="1" i="0" u="none" strike="noStrike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中文拼写纠错模型构建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课程大作业开题报告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err="1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4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张斐枫   组员：薛婷妤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2026年4月27日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0" name="组合 19"/>
          <p:cNvGrpSpPr/>
          <p:nvPr/>
        </p:nvGrpSpPr>
        <p:grpSpPr>
          <a:xfrm>
            <a:off x="789940" y="1277620"/>
            <a:ext cx="6025515" cy="1397000"/>
            <a:chOff x="6223000" y="952500"/>
            <a:chExt cx="5207000" cy="1397000"/>
          </a:xfrm>
        </p:grpSpPr>
        <p:sp>
          <p:nvSpPr>
            <p:cNvPr id="5" name="AutoShape 5"/>
            <p:cNvSpPr/>
            <p:nvPr/>
          </p:nvSpPr>
          <p:spPr>
            <a:xfrm>
              <a:off x="6223000" y="952500"/>
              <a:ext cx="5207000" cy="139700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223000" y="952500"/>
              <a:ext cx="177800" cy="1396999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6540500" y="1079500"/>
              <a:ext cx="46355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 err="1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什么是中文拼写纠错</a:t>
              </a:r>
              <a:r>
                <a:rPr lang="en-US" sz="1800" b="1" i="0" u="none" strike="noStrike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(CSC)？</a:t>
              </a:r>
              <a:endParaRPr lang="en-US" sz="1100"/>
            </a:p>
            <a:p>
              <a:pPr indent="0" algn="l">
                <a:lnSpc>
                  <a:spcPct val="108000"/>
                </a:lnSpc>
                <a:spcBef>
                  <a:spcPts val="600"/>
                </a:spcBef>
              </a:pP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NLP领域的基础任务，旨在自动检测并纠正文本中的拼写错误。常见错误源于</a:t>
              </a:r>
              <a:r>
                <a:rPr lang="en-US" b="1" i="0" u="none" strike="noStrike">
                  <a:solidFill>
                    <a:srgbClr val="00B4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音近字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混淆（如“香蕉”→“相交”）和</a:t>
              </a:r>
              <a:r>
                <a:rPr lang="en-US" b="1" i="0" u="none" strike="noStrike">
                  <a:solidFill>
                    <a:srgbClr val="00B4D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形近字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混淆（如“自己”→“自已”）。</a:t>
              </a:r>
              <a:endParaRPr lang="en-US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项目背景与意义</a:t>
            </a:r>
            <a:endParaRPr lang="en-US" sz="1100"/>
          </a:p>
        </p:txBody>
      </p:sp>
      <p:grpSp>
        <p:nvGrpSpPr>
          <p:cNvPr id="18" name="组合 17"/>
          <p:cNvGrpSpPr/>
          <p:nvPr/>
        </p:nvGrpSpPr>
        <p:grpSpPr>
          <a:xfrm>
            <a:off x="2856865" y="2924810"/>
            <a:ext cx="6532245" cy="1778000"/>
            <a:chOff x="6223000" y="2730499"/>
            <a:chExt cx="5207000" cy="1778002"/>
          </a:xfrm>
        </p:grpSpPr>
        <p:sp>
          <p:nvSpPr>
            <p:cNvPr id="8" name="AutoShape 8"/>
            <p:cNvSpPr/>
            <p:nvPr/>
          </p:nvSpPr>
          <p:spPr>
            <a:xfrm>
              <a:off x="6299200" y="2730499"/>
              <a:ext cx="5130800" cy="1778002"/>
            </a:xfrm>
            <a:prstGeom prst="roundRect">
              <a:avLst>
                <a:gd name="adj" fmla="val 8345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223000" y="2730500"/>
              <a:ext cx="177800" cy="1778001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546950" y="2813684"/>
              <a:ext cx="4635531" cy="161099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核心应用场景</a:t>
              </a:r>
              <a:endParaRPr lang="en-US" sz="1100"/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输入法：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实时修正打字错误</a:t>
              </a:r>
              <a:endParaRPr lang="en-US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搜索引擎：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精准理解用户的错误意图</a:t>
              </a:r>
              <a:endParaRPr lang="en-US" sz="180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OCR处理：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修正扫描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/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拍照识别错误</a:t>
              </a:r>
              <a:r>
                <a:rPr lang="en-US" b="0" i="0" u="none" strike="noStrike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endParaRPr lang="en-US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内容审核：</a:t>
              </a:r>
              <a:r>
                <a:rPr 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提升UGC内容质量与可读性</a:t>
              </a:r>
              <a:endParaRPr 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spcBef>
                  <a:spcPts val="600"/>
                </a:spcBef>
              </a:pPr>
              <a:r>
                <a:rPr lang="en-US" b="1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教育批改：</a:t>
              </a:r>
              <a:r>
                <a:rPr lang="zh-CN" alt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帮助教师审核作业</a:t>
              </a:r>
              <a:r>
                <a:rPr lang="zh-CN" altLang="en-US" b="0" i="0" u="none" strike="noStrike" err="1">
                  <a:solidFill>
                    <a:srgbClr val="5555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内容</a:t>
              </a:r>
              <a:endParaRPr lang="zh-CN" alt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179185" y="4953000"/>
            <a:ext cx="5596890" cy="163068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00115" y="4952365"/>
            <a:ext cx="178435" cy="1631315"/>
          </a:xfrm>
          <a:prstGeom prst="roundRect">
            <a:avLst>
              <a:gd name="adj" fmla="val 7142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63335" y="5080000"/>
            <a:ext cx="5066665" cy="13766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7000"/>
              </a:lnSpc>
              <a:defRPr/>
            </a:pPr>
            <a:r>
              <a:rPr lang="en-US" sz="18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为什么选择该方向</a:t>
            </a: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8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7000"/>
              </a:lnSpc>
              <a:defRPr/>
            </a:pPr>
            <a:r>
              <a:rPr lang="en-US" sz="1400" b="1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中文拼写错误普遍存在</a:t>
            </a:r>
            <a:endParaRPr lang="en-US" sz="1400" b="1" err="1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</a:endParaRPr>
          </a:p>
          <a:p>
            <a:pPr indent="0" algn="l">
              <a:lnSpc>
                <a:spcPct val="127000"/>
              </a:lnSpc>
              <a:spcBef>
                <a:spcPts val="600"/>
              </a:spcBef>
            </a:pPr>
            <a:r>
              <a:rPr lang="en-US" b="1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技术主流：</a:t>
            </a:r>
            <a:r>
              <a:rPr 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BERT的MLM任务与纠错本质高度契合</a:t>
            </a:r>
            <a:br>
              <a:rPr lang="en-US" sz="1800" b="0" i="0" u="none" strike="noStrike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1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课程匹配</a:t>
            </a:r>
            <a:r>
              <a:rPr lang="en-US" b="1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可以</a:t>
            </a:r>
            <a:r>
              <a:rPr lang="en-US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从零构建</a:t>
            </a:r>
            <a:r>
              <a:rPr lang="en-US" altLang="zh-CN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BERT</a:t>
            </a:r>
            <a:r>
              <a:rPr lang="en-US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核心组件</a:t>
            </a:r>
            <a:r>
              <a:rPr 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，深入理解Transformer</a:t>
            </a:r>
            <a:br>
              <a:rPr lang="en-US" sz="1800" b="0" i="0" u="none" strike="noStrike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1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研究价值：</a:t>
            </a:r>
            <a:r>
              <a:rPr lang="en-US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引入混淆集先验知识，具备实践意义</a:t>
            </a:r>
            <a:endParaRPr lang="en-US" b="0" i="0" u="none" strike="noStrike" err="1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4955" y="5299075"/>
            <a:ext cx="5363845" cy="938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中文拼写纠错是一个典型的序列建模任务，具有明确的</a:t>
            </a:r>
            <a:r>
              <a:rPr lang="en-US" altLang="zh-CN" sz="2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NLP</a:t>
            </a:r>
            <a:r>
              <a:rPr lang="zh-CN" altLang="en-US" sz="2400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研究价值。</a:t>
            </a:r>
            <a:endParaRPr lang="en-US" altLang="zh-CN" sz="2400" b="1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0" name="组合 19"/>
          <p:cNvGrpSpPr/>
          <p:nvPr/>
        </p:nvGrpSpPr>
        <p:grpSpPr>
          <a:xfrm>
            <a:off x="6223000" y="1550035"/>
            <a:ext cx="5207000" cy="1605280"/>
            <a:chOff x="6223000" y="952500"/>
            <a:chExt cx="5207000" cy="1397000"/>
          </a:xfrm>
        </p:grpSpPr>
        <p:sp>
          <p:nvSpPr>
            <p:cNvPr id="5" name="AutoShape 5"/>
            <p:cNvSpPr/>
            <p:nvPr/>
          </p:nvSpPr>
          <p:spPr>
            <a:xfrm>
              <a:off x="6223000" y="952500"/>
              <a:ext cx="5207000" cy="1397000"/>
            </a:xfrm>
            <a:prstGeom prst="roundRect">
              <a:avLst>
                <a:gd name="adj" fmla="val 10909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223000" y="952500"/>
              <a:ext cx="177800" cy="1396999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6540500" y="1079500"/>
              <a:ext cx="46355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spcBef>
                  <a:spcPts val="600"/>
                </a:spcBef>
              </a:pPr>
              <a:endParaRPr lang="en-US" sz="12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任务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endParaRPr lang="zh-CN" altLang="en-US" sz="32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223000" y="3978275"/>
            <a:ext cx="5207000" cy="1868805"/>
            <a:chOff x="6223000" y="2730499"/>
            <a:chExt cx="5207000" cy="1778002"/>
          </a:xfrm>
        </p:grpSpPr>
        <p:sp>
          <p:nvSpPr>
            <p:cNvPr id="8" name="AutoShape 8"/>
            <p:cNvSpPr/>
            <p:nvPr/>
          </p:nvSpPr>
          <p:spPr>
            <a:xfrm>
              <a:off x="6299200" y="2730499"/>
              <a:ext cx="5130800" cy="1778002"/>
            </a:xfrm>
            <a:prstGeom prst="roundRect">
              <a:avLst>
                <a:gd name="adj" fmla="val 8345"/>
              </a:avLst>
            </a:prstGeom>
            <a:solidFill>
              <a:srgbClr val="FFFFFF">
                <a:alpha val="95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223000" y="2730500"/>
              <a:ext cx="177800" cy="1778001"/>
            </a:xfrm>
            <a:prstGeom prst="roundRect">
              <a:avLst>
                <a:gd name="adj" fmla="val 0"/>
              </a:avLst>
            </a:prstGeom>
            <a:solidFill>
              <a:srgbClr val="00E5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540500" y="3047999"/>
              <a:ext cx="46355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defRPr/>
              </a:pPr>
              <a:endParaRPr lang="en-US" sz="12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6" name="矩形: 圆角 15"/>
          <p:cNvSpPr/>
          <p:nvPr/>
        </p:nvSpPr>
        <p:spPr>
          <a:xfrm>
            <a:off x="274320" y="1651000"/>
            <a:ext cx="5364480" cy="4062095"/>
          </a:xfrm>
          <a:prstGeom prst="roundRect">
            <a:avLst>
              <a:gd name="adj" fmla="val 9938"/>
            </a:avLst>
          </a:prstGeom>
          <a:blipFill>
            <a:blip r:embed="rId2"/>
            <a:stretch>
              <a:fillRect/>
            </a:stretch>
          </a:blipFill>
          <a:ln w="12700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50925" y="28962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输入（错误</a:t>
            </a:r>
            <a:r>
              <a:rPr lang="zh-CN" altLang="en-US" sz="24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句子）</a:t>
            </a:r>
            <a:endParaRPr lang="zh-CN" altLang="en-US" sz="2400" b="1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50925" y="44018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输出（修正后的</a:t>
            </a:r>
            <a:r>
              <a:rPr lang="zh-CN" altLang="en-US" sz="2400" b="1">
                <a:solidFill>
                  <a:srgbClr val="00B0F0"/>
                </a:solidFill>
                <a:latin typeface="华文中宋" panose="02010600040101010101" charset="-122"/>
                <a:ea typeface="华文中宋" panose="02010600040101010101" charset="-122"/>
              </a:rPr>
              <a:t>句子）</a:t>
            </a:r>
            <a:endParaRPr lang="zh-CN" altLang="en-US" sz="2400" b="1">
              <a:solidFill>
                <a:srgbClr val="00B0F0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AutoShape 10"/>
          <p:cNvSpPr/>
          <p:nvPr/>
        </p:nvSpPr>
        <p:spPr>
          <a:xfrm>
            <a:off x="6565900" y="1885315"/>
            <a:ext cx="4635500" cy="13506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形式化建模</a:t>
            </a: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endParaRPr lang="zh-CN" altLang="en-US" sz="18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r>
              <a:rPr lang="zh-CN" altLang="en-US" sz="2000"/>
              <a:t>输入序列：</a:t>
            </a:r>
            <a:r>
              <a:rPr lang="en-US" altLang="zh-CN" sz="2000"/>
              <a:t>X = (x</a:t>
            </a:r>
            <a:r>
              <a:rPr lang="en-US" altLang="en-US" sz="2000"/>
              <a:t>₁</a:t>
            </a:r>
            <a:r>
              <a:rPr lang="en-US" altLang="zh-CN" sz="2000"/>
              <a:t>, x</a:t>
            </a:r>
            <a:r>
              <a:rPr lang="en-US" altLang="en-US" sz="2000"/>
              <a:t>₂</a:t>
            </a:r>
            <a:r>
              <a:rPr lang="en-US" altLang="zh-CN" sz="2000"/>
              <a:t>, ..., x</a:t>
            </a:r>
            <a:r>
              <a:rPr lang="en-US" altLang="en-US" sz="2000"/>
              <a:t>ₙ</a:t>
            </a:r>
            <a:r>
              <a:rPr lang="en-US" altLang="zh-CN" sz="2000"/>
              <a:t>)</a:t>
            </a:r>
            <a:endParaRPr lang="en-US" altLang="zh-CN" sz="2000"/>
          </a:p>
          <a:p>
            <a:pPr indent="0" algn="l">
              <a:defRPr/>
            </a:pPr>
            <a:r>
              <a:rPr lang="zh-CN" altLang="en-US" sz="2000"/>
              <a:t>输出序列：</a:t>
            </a:r>
            <a:r>
              <a:rPr lang="en-US" altLang="zh-CN" sz="2000"/>
              <a:t>Y = (y</a:t>
            </a:r>
            <a:r>
              <a:rPr lang="en-US" altLang="en-US" sz="2000"/>
              <a:t>₁</a:t>
            </a:r>
            <a:r>
              <a:rPr lang="en-US" altLang="zh-CN" sz="2000"/>
              <a:t>, y</a:t>
            </a:r>
            <a:r>
              <a:rPr lang="en-US" altLang="en-US" sz="2000"/>
              <a:t>₂</a:t>
            </a:r>
            <a:r>
              <a:rPr lang="en-US" altLang="zh-CN" sz="2000"/>
              <a:t>, ..., y</a:t>
            </a:r>
            <a:r>
              <a:rPr lang="en-US" altLang="en-US" sz="2000"/>
              <a:t>ₙ</a:t>
            </a:r>
            <a:r>
              <a:rPr lang="en-US" altLang="zh-CN" sz="2000"/>
              <a:t>)</a:t>
            </a:r>
            <a:endParaRPr lang="en-US" altLang="zh-CN" sz="2000"/>
          </a:p>
          <a:p>
            <a:pPr indent="0" algn="l">
              <a:spcBef>
                <a:spcPts val="600"/>
              </a:spcBef>
            </a:pPr>
            <a:endParaRPr lang="en-US" altLang="zh-CN" sz="20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0"/>
          <p:cNvSpPr/>
          <p:nvPr/>
        </p:nvSpPr>
        <p:spPr>
          <a:xfrm>
            <a:off x="6565900" y="4162425"/>
            <a:ext cx="4635500" cy="13506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任务</a:t>
            </a:r>
            <a:r>
              <a:rPr lang="zh-CN" altLang="en-US" sz="20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目标</a:t>
            </a: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endParaRPr lang="zh-CN" altLang="en-US" sz="20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r>
              <a:rPr lang="zh-CN" altLang="en-US" sz="20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对每个位置预测：</a:t>
            </a:r>
            <a:endParaRPr lang="en-US" altLang="zh-CN" sz="20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r>
              <a:rPr lang="en-US" altLang="zh-CN" sz="20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20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是否错误</a:t>
            </a:r>
            <a:endParaRPr lang="zh-CN" altLang="en-US" sz="20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defRPr/>
            </a:pPr>
            <a:r>
              <a:rPr lang="en-US" altLang="zh-CN" sz="20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20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正确字符</a:t>
            </a:r>
            <a:endParaRPr lang="zh-CN" altLang="en-US" sz="20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技术方案与模型架构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549400"/>
            <a:ext cx="939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err="1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整体技术路线：</a:t>
            </a:r>
            <a:r>
              <a:rPr lang="en-US" sz="1800" b="1" i="0" u="none" strike="noStrike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数据准备</a:t>
            </a:r>
            <a:r>
              <a:rPr lang="en-US" sz="18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800" b="1" i="0" u="none" strike="noStrike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模型构建</a:t>
            </a:r>
            <a:r>
              <a:rPr lang="en-US" sz="18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800" b="1" i="0" u="none" strike="noStrike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预训练</a:t>
            </a:r>
            <a:r>
              <a:rPr lang="en-US" sz="1800" b="1" i="0" u="none" strike="noStrike" err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800" b="1" i="0" u="none" strike="noStrike" err="1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微调与评估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66775" y="2524125"/>
            <a:ext cx="5022215" cy="24072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● </a:t>
            </a:r>
            <a:r>
              <a:rPr lang="en-US" sz="18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核心模型</a:t>
            </a:r>
            <a:r>
              <a:rPr lang="zh-CN" altLang="en-US" sz="18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搭建</a:t>
            </a:r>
            <a:r>
              <a:rPr lang="en-US" sz="18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：</a:t>
            </a:r>
            <a:r>
              <a:rPr lang="en-US" sz="1800" b="1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基于BERT</a:t>
            </a:r>
            <a:r>
              <a:rPr lang="en-US" sz="18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 Encoder</a:t>
            </a:r>
            <a:endParaRPr lang="en-US" sz="180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1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Tokenizer：</a:t>
            </a:r>
            <a:r>
              <a:rPr lang="en-US" sz="1200" b="0" i="0" u="none" strike="noStrike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使用哈工大Chinese-BERT-wwm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词表处理中文分词与映射。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Self-Attention &amp; </a:t>
            </a:r>
            <a:r>
              <a:rPr lang="en-US" sz="1200" b="1" i="0" u="none" strike="noStrike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FFN</a:t>
            </a: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多头注意力捕捉上下文关联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；使用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前馈网络实现非线性变换。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Layer </a:t>
            </a:r>
            <a:r>
              <a:rPr lang="en-US" sz="1200" b="1" i="0" u="none" strike="noStrike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Normalization</a:t>
            </a: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标准化层间输出</a:t>
            </a:r>
            <a:r>
              <a:rPr lang="zh-CN" altLang="en-US" sz="12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来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稳定训练并显著加速收敛。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MLM </a:t>
            </a:r>
            <a:r>
              <a:rPr lang="en-US" sz="1200" b="1" i="0" u="none" strike="noStrike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Head</a:t>
            </a:r>
            <a:r>
              <a:rPr 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Masked Language Model </a:t>
            </a:r>
            <a:r>
              <a:rPr lang="en-US" sz="1200" b="0" i="0" u="none" strike="noStrike" err="1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头，通过预测掩码字符，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基本</a:t>
            </a:r>
            <a:r>
              <a:rPr lang="en-US" sz="1200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纠错逻辑。</a:t>
            </a:r>
            <a:endParaRPr lang="en-US" sz="1200" b="0" i="0" u="none" strike="noStrike">
              <a:solidFill>
                <a:srgbClr val="3741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8000"/>
              </a:lnSpc>
              <a:spcBef>
                <a:spcPts val="800"/>
              </a:spcBef>
            </a:pPr>
            <a:r>
              <a:rPr lang="en-US" altLang="zh-CN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本任务中，模型对每个</a:t>
            </a:r>
            <a:r>
              <a:rPr lang="en-US" altLang="zh-CN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token</a:t>
            </a:r>
            <a:r>
              <a:rPr lang="zh-CN" altLang="en-US" sz="1200" b="1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预测其是否需要被替换以及替换后的字符</a:t>
            </a:r>
            <a:endParaRPr lang="zh-CN" altLang="en-US" sz="1200" b="1" i="0" u="none" strike="noStrike">
              <a:solidFill>
                <a:srgbClr val="37415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4868" r="4868"/>
          <a:stretch>
            <a:fillRect/>
          </a:stretch>
        </p:blipFill>
        <p:spPr>
          <a:xfrm>
            <a:off x="6223000" y="2540000"/>
            <a:ext cx="5207000" cy="2413000"/>
          </a:xfrm>
          <a:prstGeom prst="roundRect">
            <a:avLst>
              <a:gd name="adj" fmla="val 4210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762000" y="5207000"/>
            <a:ext cx="33782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39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5359400"/>
            <a:ext cx="254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/ 预训练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在大规模构造的错误数据上进行MLM任务训练，使模型学习基础语言规律与初步的错字识别能力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06900" y="5207000"/>
            <a:ext cx="33782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7400" y="539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05400" y="5359400"/>
            <a:ext cx="254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/ 微调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引入专业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CSC数据集进行监督微调，将通用模型能力迁移并适配到中文纠错的具体场景中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51800" y="5207000"/>
            <a:ext cx="33782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42300" y="5397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50300" y="5359400"/>
            <a:ext cx="254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/ 评估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综合使用检测与纠正任务的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两套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P/R/F1 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标准指标，全方位量化模型的纠错性能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项目创新点：混淆集增强</a:t>
            </a:r>
            <a:r>
              <a:rPr lang="zh-CN" alt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方法</a:t>
            </a:r>
            <a:endParaRPr lang="zh-CN" altLang="en-US" sz="3200" b="1" i="0" u="none" strike="noStrike" err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>
              <a:lnSpc>
                <a:spcPct val="108000"/>
              </a:lnSpc>
              <a:defRPr/>
            </a:pPr>
            <a:r>
              <a:rPr lang="en-US" sz="160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本项目的核心创新在于将 音近 / 形近混淆集 作为先验知识引入模型训练过程</a:t>
            </a:r>
            <a:r>
              <a:rPr lang="en-US" sz="16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，针对性地强化模型对高频易错字的识别与纠错能力</a:t>
            </a:r>
            <a:r>
              <a:rPr lang="en-US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grpSp>
        <p:nvGrpSpPr>
          <p:cNvPr id="16" name="组合 15"/>
          <p:cNvGrpSpPr/>
          <p:nvPr/>
        </p:nvGrpSpPr>
        <p:grpSpPr>
          <a:xfrm>
            <a:off x="6274372" y="2095500"/>
            <a:ext cx="5207000" cy="3302000"/>
            <a:chOff x="6223000" y="2286000"/>
            <a:chExt cx="5207000" cy="3302000"/>
          </a:xfrm>
        </p:grpSpPr>
        <p:sp>
          <p:nvSpPr>
            <p:cNvPr id="8" name="AutoShape 8"/>
            <p:cNvSpPr/>
            <p:nvPr/>
          </p:nvSpPr>
          <p:spPr>
            <a:xfrm>
              <a:off x="6223000" y="2286000"/>
              <a:ext cx="5207000" cy="3302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BEB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9918" r="9918" b="10665"/>
            <a:stretch>
              <a:fillRect/>
            </a:stretch>
          </p:blipFill>
          <p:spPr>
            <a:xfrm>
              <a:off x="6413500" y="2643409"/>
              <a:ext cx="1651000" cy="2496024"/>
            </a:xfrm>
            <a:prstGeom prst="roundRect">
              <a:avLst>
                <a:gd name="adj" fmla="val 6153"/>
              </a:avLst>
            </a:prstGeom>
            <a:noFill/>
            <a:ln w="12700" cap="flat" cmpd="sng">
              <a:solidFill>
                <a:srgbClr val="F3F4F6">
                  <a:alpha val="100000"/>
                </a:srgbClr>
              </a:solidFill>
              <a:prstDash val="solid"/>
              <a:round/>
            </a:ln>
          </p:spPr>
        </p:pic>
        <p:sp>
          <p:nvSpPr>
            <p:cNvPr id="10" name="AutoShape 10"/>
            <p:cNvSpPr/>
            <p:nvPr/>
          </p:nvSpPr>
          <p:spPr>
            <a:xfrm>
              <a:off x="8255000" y="2413000"/>
              <a:ext cx="2921000" cy="292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spcAft>
                  <a:spcPts val="1200"/>
                </a:spcAft>
                <a:defRPr/>
              </a:pPr>
              <a:r>
                <a:rPr lang="en-US" sz="1900" b="1" i="0" u="none" strike="noStrike">
                  <a:solidFill>
                    <a:srgbClr val="00E5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▍ </a:t>
              </a:r>
              <a:r>
                <a:rPr lang="en-US" sz="1900" b="1" i="0" u="none" strike="noStrike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形近混淆集</a:t>
              </a:r>
              <a:endParaRPr lang="en-US" sz="11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构建方法：</a:t>
              </a:r>
              <a:r>
                <a:rPr lang="zh-CN" altLang="en-US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可以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参考 </a:t>
              </a:r>
              <a:r>
                <a:rPr lang="en-US" b="0" i="0" u="none" strike="noStrike">
                  <a:solidFill>
                    <a:srgbClr val="374151"/>
                  </a:solidFill>
                  <a:highlight>
                    <a:srgbClr val="00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Homoglyph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思路，计算汉字的笔画与结构相似度进行分组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核心作用</a:t>
              </a:r>
              <a:r>
                <a:rPr lang="en-US" b="1" i="0" u="none" strike="noStrike" err="1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增强模型对“形异义近”错误的视觉捕捉与语义区分能力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典型示例：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[人 / 入]、[今 / 令]、[晴 / 睛]、[酒 / 洒]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13372" y="5773864"/>
            <a:ext cx="10668000" cy="762000"/>
            <a:chOff x="762000" y="5842000"/>
            <a:chExt cx="10668000" cy="762000"/>
          </a:xfrm>
        </p:grpSpPr>
        <p:sp>
          <p:nvSpPr>
            <p:cNvPr id="11" name="AutoShape 11"/>
            <p:cNvSpPr/>
            <p:nvPr/>
          </p:nvSpPr>
          <p:spPr>
            <a:xfrm>
              <a:off x="762000" y="5842000"/>
              <a:ext cx="10668000" cy="762000"/>
            </a:xfrm>
            <a:prstGeom prst="roundRect">
              <a:avLst>
                <a:gd name="adj" fmla="val 13333"/>
              </a:avLst>
            </a:prstGeom>
            <a:solidFill>
              <a:srgbClr val="ECFEFF">
                <a:alpha val="90000"/>
              </a:srgbClr>
            </a:solidFill>
            <a:ln w="12700" cap="flat" cmpd="sng">
              <a:solidFill>
                <a:srgbClr val="00E5FF">
                  <a:alpha val="4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16000" y="5969000"/>
              <a:ext cx="10160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b="1" i="0" u="none" strike="noStrike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预期效果</a:t>
              </a:r>
              <a:r>
                <a:rPr lang="en-US" b="1" i="0" u="none" strike="noStrike" err="1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通过在训练阶段针对性引入混淆集，引导模型学习汉字间的细微差别，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显著降低因发音或字形相似而导致的识别错误率</a:t>
              </a:r>
              <a:endParaRPr lang="en-US" sz="11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59642" y="2114455"/>
            <a:ext cx="5207000" cy="3302000"/>
            <a:chOff x="762000" y="2286000"/>
            <a:chExt cx="5207000" cy="3302000"/>
          </a:xfrm>
        </p:grpSpPr>
        <p:sp>
          <p:nvSpPr>
            <p:cNvPr id="5" name="AutoShape 5"/>
            <p:cNvSpPr/>
            <p:nvPr/>
          </p:nvSpPr>
          <p:spPr>
            <a:xfrm>
              <a:off x="762000" y="2286000"/>
              <a:ext cx="5207000" cy="3302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BEB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2857500" y="2393789"/>
              <a:ext cx="2921000" cy="292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spcAft>
                  <a:spcPts val="1200"/>
                </a:spcAft>
                <a:defRPr/>
              </a:pPr>
              <a:r>
                <a:rPr lang="en-US" sz="1900" b="1" i="0" u="none" strike="noStrike">
                  <a:solidFill>
                    <a:srgbClr val="00E5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▍ </a:t>
              </a:r>
              <a:r>
                <a:rPr lang="en-US" sz="1900" b="1" i="0" u="none" strike="noStrike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音近混淆集</a:t>
              </a:r>
              <a:endParaRPr lang="en-US" sz="11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构建方法：</a:t>
              </a:r>
              <a:r>
                <a:rPr lang="zh-CN" altLang="en-US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可以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利用 </a:t>
              </a:r>
              <a:r>
                <a:rPr lang="en-US" b="0" i="0" u="none" strike="noStrike">
                  <a:solidFill>
                    <a:srgbClr val="374151"/>
                  </a:solidFill>
                  <a:highlight>
                    <a:srgbClr val="00FFFF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pypinyin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库提取拼音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，将同音字自动聚类分组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核心作用</a:t>
              </a:r>
              <a:r>
                <a:rPr lang="en-US" b="1" i="0" u="none" strike="noStrike" err="1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en-US" b="0" i="0" u="none" strike="noStrike" err="1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提升模型对“同音异形”错误的语境辨别能力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17000"/>
                </a:lnSpc>
              </a:pPr>
              <a:r>
                <a:rPr lang="en-US" b="1" i="0" u="none" strike="noStrike">
                  <a:solidFill>
                    <a:srgbClr val="6B72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典型示例：</a:t>
              </a:r>
              <a:r>
                <a:rPr lang="en-US" b="0" i="0" u="none" strike="noStrike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[的 / 得 / 地]、[进 / 近]、[以 / 已]、[再 / 在]</a:t>
              </a:r>
              <a:endParaRPr lang="en-US" b="0" i="0" u="none" strike="noStrike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743" y="2540000"/>
              <a:ext cx="1890014" cy="25994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kumimoji="0" lang="en-US" sz="3200" b="1" i="0" u="none" strike="noStrike" kern="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项目创新点：混淆集增强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1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Noto Sans SC" panose="020B0200000000000000" charset="-122"/>
              </a:rPr>
              <a:t>本项目的核心创新在于将 音近 / 形近混淆集 作为先验知识引入模型训练过程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，针对性地强化模型对高频易错字的识别与纠错能力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62000" y="2114550"/>
            <a:ext cx="10668000" cy="4563110"/>
            <a:chOff x="736895" y="2286000"/>
            <a:chExt cx="5207000" cy="3302000"/>
          </a:xfrm>
        </p:grpSpPr>
        <p:sp>
          <p:nvSpPr>
            <p:cNvPr id="5" name="AutoShape 5"/>
            <p:cNvSpPr/>
            <p:nvPr/>
          </p:nvSpPr>
          <p:spPr>
            <a:xfrm>
              <a:off x="736895" y="2286000"/>
              <a:ext cx="5207000" cy="33020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BEB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>
              <a:off x="876534" y="2476868"/>
              <a:ext cx="4661107" cy="292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900" b="1" i="0" u="none" strike="noStrike" kern="0" cap="none" spc="0" normalizeH="0" baseline="0" noProof="0">
                  <a:ln>
                    <a:noFill/>
                  </a:ln>
                  <a:solidFill>
                    <a:srgbClr val="00E5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▍ </a:t>
              </a:r>
              <a:r>
                <a:rPr kumimoji="0" lang="en-US" sz="19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混淆集</a:t>
              </a:r>
              <a:r>
                <a:rPr kumimoji="0" lang="zh-CN" altLang="en-US" sz="19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引入到模型训练策略</a:t>
              </a:r>
              <a:endPara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在预训练</a:t>
              </a:r>
              <a:r>
                <a:rPr lang="en-US" altLang="zh-CN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/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微调阶段，提高混淆字被选为随机替换掩码的概率（而非均匀采样词汇表）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2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构造训练样本时，错误位置优先使用混淆集中的字进行替换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在损失函数中加入混淆字区分辅助损失（如有混淆集内的字出现，加大惩罚权重）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策略</a:t>
              </a: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4</a:t>
              </a: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在推理阶段，</a:t>
              </a:r>
              <a:r>
                <a:rPr lang="en-US" altLang="zh-CN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MLM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预测时候选集缩小到混淆集</a:t>
              </a:r>
              <a:r>
                <a:rPr lang="en-US" altLang="zh-CN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+</a:t>
              </a:r>
              <a:r>
                <a:rPr lang="zh-CN" altLang="en-US" sz="1600">
                  <a:solidFill>
                    <a:srgbClr val="3741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 panose="020B0200000000000000" charset="-122"/>
                </a:rPr>
                <a:t>原字，而不是全词表预测</a:t>
              </a: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lang="zh-CN" altLang="en-US" sz="1600">
                <a:solidFill>
                  <a:srgbClr val="37415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核心方法：</a:t>
              </a:r>
              <a:endParaRPr lang="zh-CN" altLang="en-US" sz="1900" b="1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altLang="zh-CN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1.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数据层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做数据增强：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利用混淆集构造错误样本，例如：今天</a:t>
              </a:r>
              <a:r>
                <a:rPr lang="en-US" altLang="zh-CN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——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令天</a:t>
              </a:r>
              <a:endParaRPr lang="zh-CN" altLang="en-US" sz="190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altLang="zh-CN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2.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训练层做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损失函数加权：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对混淆错误提高训练权重</a:t>
              </a:r>
              <a:endParaRPr lang="zh-CN" altLang="en-US" sz="190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altLang="zh-CN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3.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预测层做</a:t>
              </a:r>
              <a:r>
                <a:rPr lang="zh-CN" altLang="en-US" sz="1900" b="1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候选约束：</a:t>
              </a:r>
              <a:r>
                <a:rPr lang="zh-CN" altLang="en-US" sz="1900" noProof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Noto Sans SC" panose="020B0200000000000000" charset="-122"/>
                  <a:sym typeface="Noto Sans SC" panose="020B0200000000000000" charset="-122"/>
                </a:rPr>
                <a:t>模型预测时只在混淆集候选中选择，减少错误搜索空间</a:t>
              </a:r>
              <a:endParaRPr lang="zh-CN" altLang="en-US" sz="190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数据与模型资源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3999"/>
            <a:ext cx="5207000" cy="221017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丰富的数据集支持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39031" y="2509484"/>
            <a:ext cx="4526059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MD-CSC: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多领域中文拼写纠错数据集，覆盖法律、医疗等垂直领域，数据真实度高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SIGHAN 2015: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公认的中文拼写纠错领域标准评测数据集，用于模型基准测试。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社区开源: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shibing624/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chinese_text_correction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覆盖社交媒体、新闻等多种真实场景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CTCResources: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哈工大讯飞联合实验室整理的中文文本纠错领域全资源汇总。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24756" b="24756"/>
          <a:stretch>
            <a:fillRect/>
          </a:stretch>
        </p:blipFill>
        <p:spPr>
          <a:xfrm>
            <a:off x="1016000" y="4826000"/>
            <a:ext cx="46990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221016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905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工具与参考模型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53969" y="2501900"/>
            <a:ext cx="4595031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30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基础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参考哈工大讯飞发布的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Chinese-BERT-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wwm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中文预训练模型，保证语言理解能力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纠错工具: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pycorrector，集成多种主流纠错算法，提供完整的评估体系与基础数据支持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混淆集构建: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imewlconverter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提取输入法同音混淆对，结合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homoglyph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构建形近字混淆集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资源平台: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所有代码、模型与数据集均在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GitHub 和 Hugging Face </a:t>
            </a:r>
            <a:r>
              <a:rPr lang="en-US" sz="1300" b="0" i="0" u="none" strike="noStrike" err="1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开源社区进行管理与分享</a:t>
            </a: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t="22897" b="22897"/>
          <a:stretch>
            <a:fillRect/>
          </a:stretch>
        </p:blipFill>
        <p:spPr>
          <a:xfrm>
            <a:off x="6477000" y="4953000"/>
            <a:ext cx="20955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t="9090" b="9090"/>
          <a:stretch>
            <a:fillRect/>
          </a:stretch>
        </p:blipFill>
        <p:spPr>
          <a:xfrm>
            <a:off x="8953500" y="4953000"/>
            <a:ext cx="2095500" cy="1143000"/>
          </a:xfrm>
          <a:prstGeom prst="roundRect">
            <a:avLst>
              <a:gd name="adj" fmla="val 8888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81913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实验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设计（仅改变混淆集相关模块，其余设置保持一致）</a:t>
            </a:r>
            <a:endParaRPr lang="zh-CN" altLang="en-US" sz="3200" b="1" i="0" u="none" strike="noStrike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zh-CN" alt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实验</a:t>
            </a:r>
            <a:r>
              <a:rPr lang="zh-CN" alt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设置</a:t>
            </a:r>
            <a:endParaRPr lang="zh-CN" altLang="en-US" sz="2200" b="1" i="0" u="none" strike="noStrike">
              <a:solidFill>
                <a:srgbClr val="00E5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305050"/>
            <a:ext cx="2349500" cy="58039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29489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/>
              <a:t>Baseline</a:t>
            </a:r>
            <a:endParaRPr lang="en-US" sz="20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037840"/>
            <a:ext cx="4389755" cy="130556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70000" y="329184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zh-CN" alt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对比</a:t>
            </a:r>
            <a:r>
              <a:rPr lang="zh-CN" alt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实验</a:t>
            </a:r>
            <a:endParaRPr lang="zh-CN" altLang="en-US" sz="2200" b="1" i="0" u="none" strike="noStrike">
              <a:solidFill>
                <a:srgbClr val="00E5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4481195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603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477000" y="4318000"/>
            <a:ext cx="4481195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508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38975" y="2040890"/>
            <a:ext cx="247586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20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不同错误类型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endParaRPr lang="zh-CN" altLang="en-US" sz="20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038975" y="3962400"/>
            <a:ext cx="211645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20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不同增强策略对比</a:t>
            </a:r>
            <a:endParaRPr lang="zh-CN" altLang="en-US" sz="20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6"/>
          <p:cNvSpPr/>
          <p:nvPr/>
        </p:nvSpPr>
        <p:spPr>
          <a:xfrm>
            <a:off x="1016000" y="4466590"/>
            <a:ext cx="2349500" cy="470535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</a:t>
            </a:r>
            <a:endParaRPr lang="en-US"/>
          </a:p>
        </p:txBody>
      </p:sp>
      <p:sp>
        <p:nvSpPr>
          <p:cNvPr id="34" name="AutoShape 7"/>
          <p:cNvSpPr/>
          <p:nvPr/>
        </p:nvSpPr>
        <p:spPr>
          <a:xfrm>
            <a:off x="1270000" y="43942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000" b="1"/>
              <a:t>我们的模型</a:t>
            </a:r>
            <a:endParaRPr lang="en-US" sz="20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0"/>
          <p:cNvSpPr/>
          <p:nvPr/>
        </p:nvSpPr>
        <p:spPr>
          <a:xfrm>
            <a:off x="1016000" y="5005070"/>
            <a:ext cx="4389755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文本框 35"/>
          <p:cNvSpPr txBox="1"/>
          <p:nvPr/>
        </p:nvSpPr>
        <p:spPr>
          <a:xfrm>
            <a:off x="1143000" y="5005070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BERT</a:t>
            </a:r>
            <a:r>
              <a:rPr lang="zh-CN" altLang="en-US" sz="2000" b="1"/>
              <a:t>＋混淆集</a:t>
            </a:r>
            <a:endParaRPr lang="zh-CN" altLang="en-US" sz="2000" b="1"/>
          </a:p>
          <a:p>
            <a:r>
              <a:rPr lang="en-US" altLang="zh-CN" sz="2000" b="1"/>
              <a:t>1.</a:t>
            </a:r>
            <a:r>
              <a:rPr lang="zh-CN" altLang="en-US" sz="2000" b="1"/>
              <a:t>数据增强（错误注入）</a:t>
            </a:r>
            <a:endParaRPr lang="zh-CN" altLang="en-US" sz="2000" b="1"/>
          </a:p>
          <a:p>
            <a:r>
              <a:rPr lang="en-US" altLang="zh-CN" sz="2000" b="1"/>
              <a:t>2.</a:t>
            </a:r>
            <a:r>
              <a:rPr lang="zh-CN" altLang="en-US" sz="2000" b="1"/>
              <a:t>候选约束（限制预测空间）</a:t>
            </a:r>
            <a:endParaRPr lang="zh-CN" altLang="en-US" sz="2000" b="1"/>
          </a:p>
          <a:p>
            <a:endParaRPr lang="zh-CN" altLang="en-US" sz="2000" b="1"/>
          </a:p>
          <a:p>
            <a:endParaRPr lang="zh-CN" altLang="en-US" sz="2000"/>
          </a:p>
          <a:p>
            <a:endParaRPr lang="en-US" altLang="zh-CN" sz="200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365" y="2972435"/>
            <a:ext cx="4217670" cy="115443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2858135"/>
            <a:ext cx="4591050" cy="1447800"/>
          </a:xfrm>
          <a:prstGeom prst="rect">
            <a:avLst/>
          </a:prstGeom>
        </p:spPr>
      </p:pic>
      <p:graphicFrame>
        <p:nvGraphicFramePr>
          <p:cNvPr id="41" name="表格 40"/>
          <p:cNvGraphicFramePr/>
          <p:nvPr/>
        </p:nvGraphicFramePr>
        <p:xfrm>
          <a:off x="6477000" y="4813300"/>
          <a:ext cx="448183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130"/>
                <a:gridCol w="2425700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               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模型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        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组件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           </a:t>
                      </a: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       </a:t>
                      </a:r>
                      <a:r>
                        <a:rPr lang="zh-CN" altLang="en-US"/>
                        <a:t>数据</a:t>
                      </a:r>
                      <a:r>
                        <a:rPr lang="zh-CN" altLang="en-US"/>
                        <a:t>增强</a:t>
                      </a: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           B</a:t>
                      </a:r>
                      <a:endParaRPr lang="en-US" altLang="zh-C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</a:t>
                      </a:r>
                      <a:r>
                        <a:rPr lang="zh-CN" altLang="en-US"/>
                        <a:t>数据增强＋候选</a:t>
                      </a:r>
                      <a:r>
                        <a:rPr lang="zh-CN" altLang="en-US"/>
                        <a:t>约束</a:t>
                      </a:r>
                      <a:endParaRPr lang="zh-CN" altLang="en-US"/>
                    </a:p>
                  </a:txBody>
                  <a:tcPr>
                    <a:noFill/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           C</a:t>
                      </a:r>
                      <a:endParaRPr lang="en-US" altLang="zh-C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               </a:t>
                      </a:r>
                      <a:r>
                        <a:rPr lang="zh-CN" altLang="en-US"/>
                        <a:t>完整</a:t>
                      </a:r>
                      <a:r>
                        <a:rPr lang="zh-CN" altLang="en-US"/>
                        <a:t>模型</a:t>
                      </a:r>
                      <a:endParaRPr lang="zh-CN" altLang="en-US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07 </a:t>
            </a:r>
            <a:r>
              <a:rPr lang="en-US" sz="3200" b="1" i="0" u="none" strike="noStrike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进度安排与预期成果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en-US" sz="2200" b="1" i="0" u="none" strike="noStrike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技术路线与时间规划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54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数据准备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收集中文语料，构建高质量的音近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形近混淆集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413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19500" y="254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模型构建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从零实现BERT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Encoder核心组件，搭建基础纠错网络架构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873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预训练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在人工构造的错误数据上，使用MLM任务进行模型预训练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92500" y="37465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19500" y="3873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微调与评估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在CSC公开数据集上进行模型微调，并完成基础性能评测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43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实验对比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进行混淆集增强前后的消融实验，量化分析方法有效性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92500" y="5080000"/>
            <a:ext cx="23495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619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报告撰写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整理实验结果，完成最终的研究报告与答辩演示PPT</a:t>
            </a:r>
            <a:r>
              <a:rPr lang="en-US" sz="1200" b="0" i="0" u="none" strike="noStrike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en-US" sz="2200" b="1" i="0" u="none" strike="noStrike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预期成果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60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2598193"/>
            <a:ext cx="1714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轻量级纠错模型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实现一个可运行的中文拼写纠错模型，且代码具备可扩展性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953500" y="2413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0500" y="2603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25000" y="2565400"/>
            <a:ext cx="171393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标准评测结果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在SIGHAN等权威数据集上提交模型，并产出精确率、召回率和F1指标。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4318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508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48499" y="4470400"/>
            <a:ext cx="1720187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混淆集构建方案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沉淀一套高效的音近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形近混淆集构建方法，以及配套的开源代码工具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953500" y="4318000"/>
            <a:ext cx="2349500" cy="1714500"/>
          </a:xfrm>
          <a:prstGeom prst="roundRect">
            <a:avLst>
              <a:gd name="adj" fmla="val 5925"/>
            </a:avLst>
          </a:prstGeom>
          <a:solidFill>
            <a:srgbClr val="ECF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4508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524999" y="4470400"/>
            <a:ext cx="1713931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 err="1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对比分析报告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 err="1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撰写详细的实验对比分析报告，论证混淆集增强技术的有效性与价值</a:t>
            </a:r>
            <a:r>
              <a:rPr lang="en-US" sz="1200" b="0" i="0" u="none" strike="noStrike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87045" y="3927475"/>
            <a:ext cx="1124902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</a:rPr>
              <a:t>本项目主要研究“预训练模型 + 先验知识融合”的中文拼写纠错方法</a:t>
            </a:r>
            <a:endParaRPr lang="zh-CN" altLang="en-US" sz="2800" b="1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1574421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>
                <a:solidFill>
                  <a:srgbClr val="00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2712</Words>
  <Application>WPS 演示</Application>
  <PresentationFormat>宽屏</PresentationFormat>
  <Paragraphs>190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Noto Sans SC</vt:lpstr>
      <vt:lpstr>Arial Unicode MS</vt:lpstr>
      <vt:lpstr>华文中宋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Aurora</cp:lastModifiedBy>
  <cp:revision>30</cp:revision>
  <dcterms:created xsi:type="dcterms:W3CDTF">2026-04-27T01:18:11Z</dcterms:created>
  <dcterms:modified xsi:type="dcterms:W3CDTF">2026-04-27T03:08:04Z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A664B6DCB8F044BA857F49AE1DF49E6D_13</vt:lpwstr>
  </property>
</Properties>
</file>