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7" r:id="rId8"/>
    <p:sldId id="264" r:id="rId9"/>
    <p:sldId id="258" r:id="rId10"/>
    <p:sldId id="259" r:id="rId11"/>
    <p:sldId id="263" r:id="rId12"/>
    <p:sldId id="260" r:id="rId13"/>
    <p:sldId id="261" r:id="rId14"/>
    <p:sldId id="265" r:id="rId15"/>
    <p:sldId id="26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5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426" autoAdjust="0"/>
  </p:normalViewPr>
  <p:slideViewPr>
    <p:cSldViewPr snapToGrid="0" showGuides="1">
      <p:cViewPr varScale="1">
        <p:scale>
          <a:sx n="67" d="100"/>
          <a:sy n="67" d="100"/>
        </p:scale>
        <p:origin x="621" y="24"/>
      </p:cViewPr>
      <p:guideLst>
        <p:guide orient="horz" pos="16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16.jpe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8.jpeg"/><Relationship Id="rId14" Type="http://schemas.openxmlformats.org/officeDocument/2006/relationships/tags" Target="../tags/tag11.xml"/><Relationship Id="rId13" Type="http://schemas.openxmlformats.org/officeDocument/2006/relationships/image" Target="../media/image17.jpe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生成式</a:t>
            </a:r>
            <a:r>
              <a:rPr lang="en-US" altLang="zh-CN" sz="4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r>
              <a:rPr lang="en-US" sz="4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和混淆集增强的</a:t>
            </a:r>
            <a:endParaRPr lang="en-US" sz="4800" b="1" i="0" u="none" strike="noStrike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中文拼写纠错模型构建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课程大作业开题报告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err="1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张斐枫   组员：薛婷妤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2026年4月27日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0" name="组合 19"/>
          <p:cNvGrpSpPr/>
          <p:nvPr/>
        </p:nvGrpSpPr>
        <p:grpSpPr>
          <a:xfrm>
            <a:off x="789940" y="1277620"/>
            <a:ext cx="6025515" cy="1397000"/>
            <a:chOff x="6223000" y="952500"/>
            <a:chExt cx="5207000" cy="1397000"/>
          </a:xfrm>
        </p:grpSpPr>
        <p:sp>
          <p:nvSpPr>
            <p:cNvPr id="5" name="AutoShape 5"/>
            <p:cNvSpPr/>
            <p:nvPr/>
          </p:nvSpPr>
          <p:spPr>
            <a:xfrm>
              <a:off x="6223000" y="952500"/>
              <a:ext cx="5207000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223000" y="952500"/>
              <a:ext cx="177800" cy="1396999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6540500" y="1079500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什么是中文拼写纠错</a:t>
              </a: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(CSC)？</a:t>
              </a:r>
              <a:endParaRPr lang="en-US" sz="1100"/>
            </a:p>
            <a:p>
              <a:pPr indent="0" algn="l">
                <a:lnSpc>
                  <a:spcPct val="108000"/>
                </a:lnSpc>
                <a:spcBef>
                  <a:spcPts val="600"/>
                </a:spcBef>
              </a:pP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NLP领域的基础任务，旨在自动检测并纠正文本中的拼写错误。常见错误源于</a:t>
              </a:r>
              <a:r>
                <a:rPr lang="en-US" b="1" i="0" u="none" strike="noStrike">
                  <a:solidFill>
                    <a:srgbClr val="00B4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音近字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混淆（如“香蕉”→“相交”）和</a:t>
              </a:r>
              <a:r>
                <a:rPr lang="en-US" b="1" i="0" u="none" strike="noStrike">
                  <a:solidFill>
                    <a:srgbClr val="00B4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形近字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混淆（如“自己”→“自已”）。</a:t>
              </a:r>
              <a:endPara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</p:txBody>
      </p:sp>
      <p:grpSp>
        <p:nvGrpSpPr>
          <p:cNvPr id="18" name="组合 17"/>
          <p:cNvGrpSpPr/>
          <p:nvPr/>
        </p:nvGrpSpPr>
        <p:grpSpPr>
          <a:xfrm>
            <a:off x="6200388" y="4879340"/>
            <a:ext cx="5229612" cy="1778000"/>
            <a:chOff x="6223000" y="2730499"/>
            <a:chExt cx="5207000" cy="1778002"/>
          </a:xfrm>
        </p:grpSpPr>
        <p:sp>
          <p:nvSpPr>
            <p:cNvPr id="8" name="AutoShape 8"/>
            <p:cNvSpPr/>
            <p:nvPr/>
          </p:nvSpPr>
          <p:spPr>
            <a:xfrm>
              <a:off x="6299200" y="2730499"/>
              <a:ext cx="5130800" cy="1778002"/>
            </a:xfrm>
            <a:prstGeom prst="roundRect">
              <a:avLst>
                <a:gd name="adj" fmla="val 8345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223000" y="2730500"/>
              <a:ext cx="177800" cy="1778001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653643" y="2807651"/>
              <a:ext cx="4635531" cy="161099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核心应用场景</a:t>
              </a:r>
              <a:endParaRPr lang="en-US" sz="1100"/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输入法：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实时修正打字错误</a:t>
              </a:r>
              <a:endPara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搜索引擎：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精准理解用户的错误意图</a:t>
              </a:r>
              <a:endParaRPr lang="en-US" sz="180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OCR处理：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修正扫描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/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拍照识别错误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endParaRPr lang="en-US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教育批改</a:t>
              </a: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帮助教师审核作业内容</a:t>
              </a:r>
              <a:endParaRPr lang="zh-CN" alt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18433" y="3035300"/>
            <a:ext cx="6866256" cy="1643380"/>
            <a:chOff x="6054380" y="4952365"/>
            <a:chExt cx="5640732" cy="1643380"/>
          </a:xfrm>
        </p:grpSpPr>
        <p:sp>
          <p:nvSpPr>
            <p:cNvPr id="11" name="AutoShape 11"/>
            <p:cNvSpPr/>
            <p:nvPr/>
          </p:nvSpPr>
          <p:spPr>
            <a:xfrm>
              <a:off x="6098222" y="4965065"/>
              <a:ext cx="5596890" cy="163068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54380" y="4952365"/>
              <a:ext cx="249610" cy="1631315"/>
            </a:xfrm>
            <a:prstGeom prst="roundRect">
              <a:avLst>
                <a:gd name="adj" fmla="val 7142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351216" y="5092065"/>
              <a:ext cx="5261472" cy="13766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7000"/>
                </a:lnSpc>
                <a:defRPr/>
              </a:pPr>
              <a:r>
                <a:rPr lang="en-US" sz="1800" b="1" i="0" u="none" strike="noStrike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为什么选择该方向</a:t>
              </a: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？</a:t>
              </a:r>
              <a:endParaRPr lang="en-US" sz="1400" b="1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endParaRPr>
            </a:p>
            <a:p>
              <a:pPr indent="0" algn="l">
                <a:lnSpc>
                  <a:spcPct val="127000"/>
                </a:lnSpc>
                <a:spcBef>
                  <a:spcPts val="600"/>
                </a:spcBef>
              </a:pPr>
              <a:r>
                <a:rPr lang="en-US" b="1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技术</a:t>
              </a:r>
              <a:r>
                <a:rPr lang="zh-CN" altLang="en-US" b="1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探索</a:t>
              </a:r>
              <a:r>
                <a:rPr lang="en-US" b="1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altLang="zh-CN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CSC</a:t>
              </a:r>
              <a:r>
                <a:rPr lang="zh-CN" altLang="en-US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本质是受限生成而非自由生成，对生成式</a:t>
              </a:r>
              <a:r>
                <a:rPr lang="en-US" altLang="zh-CN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LLM</a:t>
              </a:r>
              <a:r>
                <a:rPr lang="zh-CN" altLang="en-US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有所挑战，现有的生成式模型在做文本纠错时会出现幻觉</a:t>
              </a:r>
              <a:br>
                <a:rPr lang="en-US" sz="1800" b="0" i="0" u="none" strike="noStrike">
                  <a:solidFill>
                    <a:srgbClr val="1F23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课程匹配</a:t>
              </a:r>
              <a:r>
                <a:rPr lang="en-US" b="1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可以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从零构建</a:t>
              </a:r>
              <a:r>
                <a:rPr lang="en-US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Decoder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核心组件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深入理解</a:t>
              </a:r>
              <a:r>
                <a:rPr lang="zh-CN" alt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现代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Transformer</a:t>
              </a:r>
              <a:r>
                <a:rPr lang="zh-CN" alt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架构</a:t>
              </a:r>
              <a:br>
                <a:rPr lang="en-US" sz="1800" b="0" i="0" u="none" strike="noStrike">
                  <a:solidFill>
                    <a:srgbClr val="1F23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研究价值：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引入混淆集</a:t>
              </a:r>
              <a:r>
                <a:rPr lang="zh-CN" alt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作为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先验</a:t>
              </a:r>
              <a:r>
                <a:rPr lang="zh-CN" alt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知识和生成约束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具备实践意义</a:t>
              </a:r>
              <a:endParaRPr 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4955" y="5299075"/>
            <a:ext cx="5671185" cy="938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中文拼写纠错具有明确的</a:t>
            </a:r>
            <a:r>
              <a:rPr lang="en-US" altLang="zh-CN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NLP</a:t>
            </a:r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研究价值</a:t>
            </a:r>
            <a:endParaRPr lang="en-US" altLang="zh-CN" sz="24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-1" b="33922"/>
          <a:stretch>
            <a:fillRect/>
          </a:stretch>
        </p:blipFill>
        <p:spPr>
          <a:xfrm>
            <a:off x="7741033" y="328273"/>
            <a:ext cx="4188301" cy="2442391"/>
          </a:xfrm>
          <a:prstGeom prst="rect">
            <a:avLst/>
          </a:prstGeom>
        </p:spPr>
      </p:pic>
      <p:sp>
        <p:nvSpPr>
          <p:cNvPr id="19" name="任意多边形 18"/>
          <p:cNvSpPr/>
          <p:nvPr/>
        </p:nvSpPr>
        <p:spPr>
          <a:xfrm rot="19800000">
            <a:off x="9465945" y="2887980"/>
            <a:ext cx="1501140" cy="5226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08" h="1000">
                <a:moveTo>
                  <a:pt x="1696" y="0"/>
                </a:moveTo>
                <a:lnTo>
                  <a:pt x="1808" y="465"/>
                </a:lnTo>
                <a:lnTo>
                  <a:pt x="1671" y="401"/>
                </a:lnTo>
                <a:cubicBezTo>
                  <a:pt x="1270" y="926"/>
                  <a:pt x="618" y="1148"/>
                  <a:pt x="82" y="898"/>
                </a:cubicBezTo>
                <a:lnTo>
                  <a:pt x="0" y="859"/>
                </a:lnTo>
                <a:lnTo>
                  <a:pt x="0" y="823"/>
                </a:lnTo>
                <a:lnTo>
                  <a:pt x="8" y="824"/>
                </a:lnTo>
                <a:lnTo>
                  <a:pt x="22" y="827"/>
                </a:lnTo>
                <a:lnTo>
                  <a:pt x="33" y="829"/>
                </a:lnTo>
                <a:lnTo>
                  <a:pt x="48" y="831"/>
                </a:lnTo>
                <a:lnTo>
                  <a:pt x="59" y="832"/>
                </a:lnTo>
                <a:lnTo>
                  <a:pt x="74" y="834"/>
                </a:lnTo>
                <a:lnTo>
                  <a:pt x="84" y="836"/>
                </a:lnTo>
                <a:lnTo>
                  <a:pt x="100" y="837"/>
                </a:lnTo>
                <a:lnTo>
                  <a:pt x="110" y="838"/>
                </a:lnTo>
                <a:lnTo>
                  <a:pt x="128" y="840"/>
                </a:lnTo>
                <a:lnTo>
                  <a:pt x="135" y="840"/>
                </a:lnTo>
                <a:lnTo>
                  <a:pt x="161" y="842"/>
                </a:lnTo>
                <a:lnTo>
                  <a:pt x="166" y="842"/>
                </a:lnTo>
                <a:lnTo>
                  <a:pt x="186" y="842"/>
                </a:lnTo>
                <a:lnTo>
                  <a:pt x="196" y="843"/>
                </a:lnTo>
                <a:lnTo>
                  <a:pt x="212" y="843"/>
                </a:lnTo>
                <a:lnTo>
                  <a:pt x="222" y="843"/>
                </a:lnTo>
                <a:lnTo>
                  <a:pt x="238" y="842"/>
                </a:lnTo>
                <a:lnTo>
                  <a:pt x="249" y="842"/>
                </a:lnTo>
                <a:lnTo>
                  <a:pt x="264" y="841"/>
                </a:lnTo>
                <a:lnTo>
                  <a:pt x="275" y="841"/>
                </a:lnTo>
                <a:lnTo>
                  <a:pt x="289" y="840"/>
                </a:lnTo>
                <a:lnTo>
                  <a:pt x="300" y="839"/>
                </a:lnTo>
                <a:lnTo>
                  <a:pt x="315" y="838"/>
                </a:lnTo>
                <a:lnTo>
                  <a:pt x="326" y="837"/>
                </a:lnTo>
                <a:lnTo>
                  <a:pt x="341" y="835"/>
                </a:lnTo>
                <a:lnTo>
                  <a:pt x="352" y="834"/>
                </a:lnTo>
                <a:lnTo>
                  <a:pt x="368" y="832"/>
                </a:lnTo>
                <a:lnTo>
                  <a:pt x="377" y="831"/>
                </a:lnTo>
                <a:lnTo>
                  <a:pt x="398" y="828"/>
                </a:lnTo>
                <a:lnTo>
                  <a:pt x="403" y="827"/>
                </a:lnTo>
                <a:lnTo>
                  <a:pt x="429" y="823"/>
                </a:lnTo>
                <a:lnTo>
                  <a:pt x="436" y="821"/>
                </a:lnTo>
                <a:lnTo>
                  <a:pt x="454" y="818"/>
                </a:lnTo>
                <a:lnTo>
                  <a:pt x="464" y="815"/>
                </a:lnTo>
                <a:lnTo>
                  <a:pt x="480" y="812"/>
                </a:lnTo>
                <a:lnTo>
                  <a:pt x="490" y="810"/>
                </a:lnTo>
                <a:lnTo>
                  <a:pt x="505" y="806"/>
                </a:lnTo>
                <a:lnTo>
                  <a:pt x="516" y="803"/>
                </a:lnTo>
                <a:lnTo>
                  <a:pt x="530" y="799"/>
                </a:lnTo>
                <a:lnTo>
                  <a:pt x="541" y="796"/>
                </a:lnTo>
                <a:lnTo>
                  <a:pt x="556" y="792"/>
                </a:lnTo>
                <a:lnTo>
                  <a:pt x="567" y="789"/>
                </a:lnTo>
                <a:lnTo>
                  <a:pt x="581" y="784"/>
                </a:lnTo>
                <a:lnTo>
                  <a:pt x="592" y="781"/>
                </a:lnTo>
                <a:lnTo>
                  <a:pt x="607" y="776"/>
                </a:lnTo>
                <a:lnTo>
                  <a:pt x="617" y="773"/>
                </a:lnTo>
                <a:lnTo>
                  <a:pt x="634" y="767"/>
                </a:lnTo>
                <a:lnTo>
                  <a:pt x="642" y="764"/>
                </a:lnTo>
                <a:lnTo>
                  <a:pt x="667" y="754"/>
                </a:lnTo>
                <a:lnTo>
                  <a:pt x="667" y="754"/>
                </a:lnTo>
                <a:lnTo>
                  <a:pt x="667" y="754"/>
                </a:lnTo>
                <a:lnTo>
                  <a:pt x="691" y="745"/>
                </a:lnTo>
                <a:lnTo>
                  <a:pt x="700" y="741"/>
                </a:lnTo>
                <a:lnTo>
                  <a:pt x="716" y="734"/>
                </a:lnTo>
                <a:lnTo>
                  <a:pt x="726" y="730"/>
                </a:lnTo>
                <a:lnTo>
                  <a:pt x="741" y="723"/>
                </a:lnTo>
                <a:lnTo>
                  <a:pt x="751" y="718"/>
                </a:lnTo>
                <a:lnTo>
                  <a:pt x="765" y="712"/>
                </a:lnTo>
                <a:lnTo>
                  <a:pt x="775" y="707"/>
                </a:lnTo>
                <a:lnTo>
                  <a:pt x="789" y="700"/>
                </a:lnTo>
                <a:lnTo>
                  <a:pt x="800" y="694"/>
                </a:lnTo>
                <a:lnTo>
                  <a:pt x="814" y="687"/>
                </a:lnTo>
                <a:lnTo>
                  <a:pt x="824" y="682"/>
                </a:lnTo>
                <a:lnTo>
                  <a:pt x="838" y="674"/>
                </a:lnTo>
                <a:lnTo>
                  <a:pt x="848" y="669"/>
                </a:lnTo>
                <a:lnTo>
                  <a:pt x="862" y="660"/>
                </a:lnTo>
                <a:lnTo>
                  <a:pt x="871" y="655"/>
                </a:lnTo>
                <a:lnTo>
                  <a:pt x="888" y="645"/>
                </a:lnTo>
                <a:lnTo>
                  <a:pt x="895" y="641"/>
                </a:lnTo>
                <a:lnTo>
                  <a:pt x="918" y="626"/>
                </a:lnTo>
                <a:lnTo>
                  <a:pt x="923" y="624"/>
                </a:lnTo>
                <a:lnTo>
                  <a:pt x="941" y="611"/>
                </a:lnTo>
                <a:lnTo>
                  <a:pt x="949" y="606"/>
                </a:lnTo>
                <a:lnTo>
                  <a:pt x="964" y="596"/>
                </a:lnTo>
                <a:lnTo>
                  <a:pt x="973" y="590"/>
                </a:lnTo>
                <a:lnTo>
                  <a:pt x="987" y="580"/>
                </a:lnTo>
                <a:lnTo>
                  <a:pt x="996" y="573"/>
                </a:lnTo>
                <a:lnTo>
                  <a:pt x="1009" y="563"/>
                </a:lnTo>
                <a:lnTo>
                  <a:pt x="1019" y="556"/>
                </a:lnTo>
                <a:lnTo>
                  <a:pt x="1032" y="547"/>
                </a:lnTo>
                <a:lnTo>
                  <a:pt x="1041" y="539"/>
                </a:lnTo>
                <a:lnTo>
                  <a:pt x="1054" y="529"/>
                </a:lnTo>
                <a:lnTo>
                  <a:pt x="1063" y="522"/>
                </a:lnTo>
                <a:lnTo>
                  <a:pt x="1076" y="511"/>
                </a:lnTo>
                <a:lnTo>
                  <a:pt x="1085" y="504"/>
                </a:lnTo>
                <a:lnTo>
                  <a:pt x="1099" y="492"/>
                </a:lnTo>
                <a:lnTo>
                  <a:pt x="1106" y="485"/>
                </a:lnTo>
                <a:lnTo>
                  <a:pt x="1123" y="470"/>
                </a:lnTo>
                <a:lnTo>
                  <a:pt x="1128" y="466"/>
                </a:lnTo>
                <a:lnTo>
                  <a:pt x="1148" y="447"/>
                </a:lnTo>
                <a:lnTo>
                  <a:pt x="1154" y="441"/>
                </a:lnTo>
                <a:lnTo>
                  <a:pt x="1169" y="427"/>
                </a:lnTo>
                <a:lnTo>
                  <a:pt x="1177" y="420"/>
                </a:lnTo>
                <a:lnTo>
                  <a:pt x="1190" y="407"/>
                </a:lnTo>
                <a:lnTo>
                  <a:pt x="1198" y="398"/>
                </a:lnTo>
                <a:lnTo>
                  <a:pt x="1210" y="386"/>
                </a:lnTo>
                <a:lnTo>
                  <a:pt x="1218" y="377"/>
                </a:lnTo>
                <a:lnTo>
                  <a:pt x="1230" y="365"/>
                </a:lnTo>
                <a:lnTo>
                  <a:pt x="1238" y="356"/>
                </a:lnTo>
                <a:lnTo>
                  <a:pt x="1249" y="343"/>
                </a:lnTo>
                <a:lnTo>
                  <a:pt x="1257" y="334"/>
                </a:lnTo>
                <a:lnTo>
                  <a:pt x="1269" y="321"/>
                </a:lnTo>
                <a:lnTo>
                  <a:pt x="1277" y="312"/>
                </a:lnTo>
                <a:lnTo>
                  <a:pt x="1288" y="298"/>
                </a:lnTo>
                <a:lnTo>
                  <a:pt x="1295" y="290"/>
                </a:lnTo>
                <a:lnTo>
                  <a:pt x="1300" y="284"/>
                </a:lnTo>
                <a:lnTo>
                  <a:pt x="1332" y="243"/>
                </a:lnTo>
                <a:lnTo>
                  <a:pt x="1195" y="179"/>
                </a:lnTo>
                <a:lnTo>
                  <a:pt x="1696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/>
              </a:gs>
              <a:gs pos="0">
                <a:srgbClr val="00E5FF"/>
              </a:gs>
              <a:gs pos="45000">
                <a:srgbClr val="00E5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0" name="组合 19"/>
          <p:cNvGrpSpPr/>
          <p:nvPr/>
        </p:nvGrpSpPr>
        <p:grpSpPr>
          <a:xfrm>
            <a:off x="6223000" y="1751330"/>
            <a:ext cx="5207000" cy="1605280"/>
            <a:chOff x="6223000" y="952500"/>
            <a:chExt cx="5207000" cy="1397000"/>
          </a:xfrm>
        </p:grpSpPr>
        <p:sp>
          <p:nvSpPr>
            <p:cNvPr id="5" name="AutoShape 5"/>
            <p:cNvSpPr/>
            <p:nvPr/>
          </p:nvSpPr>
          <p:spPr>
            <a:xfrm>
              <a:off x="6223000" y="952500"/>
              <a:ext cx="5207000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223000" y="952500"/>
              <a:ext cx="177800" cy="1396999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6540500" y="1079500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spcBef>
                  <a:spcPts val="600"/>
                </a:spcBef>
              </a:pPr>
              <a:endParaRPr lang="en-US" sz="12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任务定义</a:t>
            </a:r>
            <a:endParaRPr lang="zh-CN" altLang="en-US" sz="32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223000" y="3889260"/>
            <a:ext cx="5207000" cy="1868805"/>
            <a:chOff x="6223000" y="2730499"/>
            <a:chExt cx="5207000" cy="1778002"/>
          </a:xfrm>
        </p:grpSpPr>
        <p:sp>
          <p:nvSpPr>
            <p:cNvPr id="8" name="AutoShape 8"/>
            <p:cNvSpPr/>
            <p:nvPr/>
          </p:nvSpPr>
          <p:spPr>
            <a:xfrm>
              <a:off x="6299200" y="2730499"/>
              <a:ext cx="5130800" cy="1778002"/>
            </a:xfrm>
            <a:prstGeom prst="roundRect">
              <a:avLst>
                <a:gd name="adj" fmla="val 8345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223000" y="2730500"/>
              <a:ext cx="177800" cy="1778001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540500" y="3047999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endParaRPr lang="en-US" sz="12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>
            <a:off x="528321" y="1695970"/>
            <a:ext cx="5364480" cy="4062095"/>
          </a:xfrm>
          <a:prstGeom prst="roundRect">
            <a:avLst>
              <a:gd name="adj" fmla="val 9938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50925" y="28962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输入（错误句子）</a:t>
            </a:r>
            <a:endParaRPr lang="zh-CN" altLang="en-US" sz="2400" b="1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0925" y="4401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输出（修正后的句子）</a:t>
            </a:r>
            <a:endParaRPr lang="zh-CN" altLang="en-US" sz="2400" b="1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AutoShape 10"/>
          <p:cNvSpPr/>
          <p:nvPr/>
        </p:nvSpPr>
        <p:spPr>
          <a:xfrm>
            <a:off x="6565900" y="2086610"/>
            <a:ext cx="4635500" cy="1350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形式化建模</a:t>
            </a: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endParaRPr lang="zh-CN" altLang="en-US" sz="18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zh-CN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输入序列：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(x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₁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x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₂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..., x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ₙ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defRPr/>
            </a:pPr>
            <a:r>
              <a:rPr lang="zh-CN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输出序列：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(y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₁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y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₂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..., y</a:t>
            </a:r>
            <a:r>
              <a:rPr lang="en-US" altLang="en-US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ₙ</a:t>
            </a:r>
            <a:r>
              <a:rPr lang="en-US" altLang="zh-CN" sz="2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spcBef>
                <a:spcPts val="600"/>
              </a:spcBef>
            </a:pPr>
            <a:endParaRPr lang="en-US" altLang="zh-CN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0"/>
          <p:cNvSpPr/>
          <p:nvPr/>
        </p:nvSpPr>
        <p:spPr>
          <a:xfrm>
            <a:off x="6565900" y="3825350"/>
            <a:ext cx="4635500" cy="1350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任务目标</a:t>
            </a: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zh-CN" altLang="en-US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条件概率生成</a:t>
            </a:r>
            <a:endParaRPr lang="en-US" altLang="zh-CN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826" y="5064898"/>
            <a:ext cx="2924583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技术方案与模型架构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446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853" y="14224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01853" y="1384300"/>
            <a:ext cx="939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err="1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整体技术路线：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数据准备</a:t>
            </a:r>
            <a:r>
              <a:rPr lang="en-US" sz="18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模型构建</a:t>
            </a:r>
            <a:r>
              <a:rPr lang="en-US" sz="18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预训练</a:t>
            </a:r>
            <a:r>
              <a:rPr lang="zh-CN" altLang="en-US" sz="180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与后训练</a:t>
            </a:r>
            <a:r>
              <a:rPr lang="en-US" sz="18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评估</a:t>
            </a:r>
            <a:endParaRPr lang="en-US" sz="1100"/>
          </a:p>
        </p:txBody>
      </p:sp>
      <p:grpSp>
        <p:nvGrpSpPr>
          <p:cNvPr id="9" name="组合 8"/>
          <p:cNvGrpSpPr/>
          <p:nvPr/>
        </p:nvGrpSpPr>
        <p:grpSpPr>
          <a:xfrm>
            <a:off x="761999" y="2324100"/>
            <a:ext cx="10668000" cy="2730500"/>
            <a:chOff x="762000" y="2324100"/>
            <a:chExt cx="5207000" cy="2730500"/>
          </a:xfrm>
        </p:grpSpPr>
        <p:sp>
          <p:nvSpPr>
            <p:cNvPr id="7" name="AutoShape 7"/>
            <p:cNvSpPr/>
            <p:nvPr/>
          </p:nvSpPr>
          <p:spPr>
            <a:xfrm>
              <a:off x="762000" y="2324100"/>
              <a:ext cx="5207000" cy="2730500"/>
            </a:xfrm>
            <a:prstGeom prst="roundRect">
              <a:avLst>
                <a:gd name="adj" fmla="val 421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932442" y="2485707"/>
              <a:ext cx="4988824" cy="240728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800" b="1">
                  <a:solidFill>
                    <a:srgbClr val="00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● </a:t>
              </a:r>
              <a:r>
                <a:rPr lang="en-US" sz="1800" b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核心模型</a:t>
              </a:r>
              <a:r>
                <a:rPr lang="zh-CN" altLang="en-US" sz="1800" b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搭建</a:t>
              </a:r>
              <a:r>
                <a:rPr lang="en-US" sz="1800" b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：基于</a:t>
              </a:r>
              <a:r>
                <a:rPr lang="en-US" altLang="zh-CN" sz="1800" b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De</a:t>
              </a:r>
              <a:r>
                <a:rPr lang="en-US" sz="1800" b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coder-Only</a:t>
              </a:r>
              <a:endParaRPr lang="en-US" sz="18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Tokenizer：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使用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自主构建的</a:t>
              </a:r>
              <a:r>
                <a:rPr lang="zh-CN" altLang="en-US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字级别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词表，大小约</a:t>
              </a:r>
              <a:r>
                <a:rPr lang="en-US" altLang="zh-CN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8000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，覆盖了常用字，同时引入了所有混淆集中的字</a:t>
              </a:r>
              <a:endParaRPr lang="en-US" altLang="zh-CN" sz="180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altLang="zh-CN" b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·</a:t>
              </a:r>
              <a:r>
                <a:rPr 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Embedding</a:t>
              </a:r>
              <a:r>
                <a:rPr lang="zh-CN" alt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层：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字嵌入 </a:t>
              </a:r>
              <a:r>
                <a:rPr lang="en-US" altLang="zh-CN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+ 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RoPE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旋转位置编码，替代绝对位置编码，提升位置表征能力。</a:t>
              </a:r>
              <a:endParaRPr lang="zh-CN" alt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altLang="zh-CN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·</a:t>
              </a:r>
              <a:r>
                <a:rPr 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Causal Self-Attention：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多头因果注意力，可使用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Flash Attention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思想，捕捉上下文依赖。</a:t>
              </a:r>
              <a:endParaRPr lang="zh-CN" alt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altLang="zh-CN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·</a:t>
              </a:r>
              <a:r>
                <a:rPr 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FFN with SwiGLU：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使用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SwiGLU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激活函数替代传统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ReLU/GELU，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提升非线性表达能力。</a:t>
              </a:r>
              <a:endParaRPr lang="zh-CN" alt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altLang="zh-CN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·</a:t>
              </a:r>
              <a:r>
                <a:rPr 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RMSNorm：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替代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LayerNorm，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降低计算开销，稳定训练。</a:t>
              </a:r>
              <a:endParaRPr lang="zh-CN" alt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8000"/>
                </a:lnSpc>
                <a:spcBef>
                  <a:spcPts val="800"/>
                </a:spcBef>
              </a:pPr>
              <a:r>
                <a:rPr lang="en-US" altLang="zh-CN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·</a:t>
              </a:r>
              <a:r>
                <a:rPr lang="zh-CN" altLang="en-US" b="1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自回归生成头：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线性映射 </a:t>
              </a:r>
              <a:r>
                <a:rPr lang="en-US" altLang="zh-CN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+ 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Softmax，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输出词表概率分布；推理时叠加混淆集掩码约束。</a:t>
              </a:r>
              <a:endPara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</p:txBody>
        </p:sp>
      </p:grpSp>
      <p:sp>
        <p:nvSpPr>
          <p:cNvPr id="10" name="AutoShape 10"/>
          <p:cNvSpPr/>
          <p:nvPr/>
        </p:nvSpPr>
        <p:spPr>
          <a:xfrm>
            <a:off x="7620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/ 预训练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在大规模构造的错误数据上进行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因果语言模型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任务训练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，使模型学习基础语言规律与初步的错字识别能力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069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539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054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/ </a:t>
            </a:r>
            <a:r>
              <a:rPr lang="zh-CN" altLang="en-US" sz="1600" b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后训练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引入专业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CSC数据集进行监督微调，将通用模型能力迁移并适配到中文纠错的具体场景中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518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2300" y="5397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503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/ 评估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综合使用检测与纠正任务的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两套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P/R/F1 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标准指标，全方位量化模型的纠错性能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项目创新点：混淆集增强</a:t>
            </a:r>
            <a:r>
              <a:rPr lang="zh-CN" alt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方法</a:t>
            </a:r>
            <a:endParaRPr lang="zh-CN" altLang="en-US" sz="3200" b="1" i="0" u="none" strike="noStrike" err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>
              <a:lnSpc>
                <a:spcPct val="108000"/>
              </a:lnSpc>
              <a:defRPr/>
            </a:pP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本项目的核心创新在于将 音近 / 形近混淆集 作为先验知识引入模型训练过程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，针对性地强化模型对高频易错字的识别与纠错能力</a:t>
            </a:r>
            <a:r>
              <a:rPr lang="en-US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grpSp>
        <p:nvGrpSpPr>
          <p:cNvPr id="16" name="组合 15"/>
          <p:cNvGrpSpPr/>
          <p:nvPr/>
        </p:nvGrpSpPr>
        <p:grpSpPr>
          <a:xfrm>
            <a:off x="6274372" y="2095500"/>
            <a:ext cx="5207000" cy="3302000"/>
            <a:chOff x="6223000" y="2286000"/>
            <a:chExt cx="5207000" cy="3302000"/>
          </a:xfrm>
        </p:grpSpPr>
        <p:sp>
          <p:nvSpPr>
            <p:cNvPr id="8" name="AutoShape 8"/>
            <p:cNvSpPr/>
            <p:nvPr/>
          </p:nvSpPr>
          <p:spPr>
            <a:xfrm>
              <a:off x="6223000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9918" r="9918" b="10665"/>
            <a:stretch>
              <a:fillRect/>
            </a:stretch>
          </p:blipFill>
          <p:spPr>
            <a:xfrm>
              <a:off x="6413500" y="2643409"/>
              <a:ext cx="1651000" cy="2496024"/>
            </a:xfrm>
            <a:prstGeom prst="roundRect">
              <a:avLst>
                <a:gd name="adj" fmla="val 6153"/>
              </a:avLst>
            </a:prstGeom>
            <a:noFill/>
            <a:ln w="12700" cap="flat" cmpd="sng">
              <a:solidFill>
                <a:srgbClr val="F3F4F6">
                  <a:alpha val="100000"/>
                </a:srgbClr>
              </a:solidFill>
              <a:prstDash val="solid"/>
              <a:round/>
            </a:ln>
          </p:spPr>
        </p:pic>
        <p:sp>
          <p:nvSpPr>
            <p:cNvPr id="10" name="AutoShape 10"/>
            <p:cNvSpPr/>
            <p:nvPr/>
          </p:nvSpPr>
          <p:spPr>
            <a:xfrm>
              <a:off x="8255000" y="2413000"/>
              <a:ext cx="2921000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spcAft>
                  <a:spcPts val="1200"/>
                </a:spcAft>
                <a:defRPr/>
              </a:pPr>
              <a:r>
                <a:rPr lang="en-US" sz="1900" b="1" i="0" u="none" strike="noStrike">
                  <a:solidFill>
                    <a:srgbClr val="00E5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lang="en-US" sz="1900" b="1" i="0" u="none" strike="noStrike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形近混淆集</a:t>
              </a:r>
              <a:endParaRPr 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构建方法：</a:t>
              </a:r>
              <a:r>
                <a:rPr lang="zh-CN" altLang="en-US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可以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参考 </a:t>
              </a:r>
              <a:r>
                <a:rPr lang="en-US" b="0" i="0" u="none" strike="noStrike">
                  <a:solidFill>
                    <a:srgbClr val="374151"/>
                  </a:solidFill>
                  <a:highlight>
                    <a:srgbClr val="00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Homoglyph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思路，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计算汉字的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同形距离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进行分组。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核心作用</a:t>
              </a:r>
              <a:r>
                <a:rPr lang="en-US" b="1" i="0" u="none" strike="noStrike" err="1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增强模型对“形异义近”错误的视觉捕捉与语义区分能力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典型示例：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[人 / 入]、[今 / 令]、[晴 / 睛]、[酒 / 洒]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13372" y="5773864"/>
            <a:ext cx="10668000" cy="762000"/>
            <a:chOff x="762000" y="5842000"/>
            <a:chExt cx="10668000" cy="762000"/>
          </a:xfrm>
        </p:grpSpPr>
        <p:sp>
          <p:nvSpPr>
            <p:cNvPr id="11" name="AutoShape 11"/>
            <p:cNvSpPr/>
            <p:nvPr/>
          </p:nvSpPr>
          <p:spPr>
            <a:xfrm>
              <a:off x="762000" y="5842000"/>
              <a:ext cx="10668000" cy="762000"/>
            </a:xfrm>
            <a:prstGeom prst="roundRect">
              <a:avLst>
                <a:gd name="adj" fmla="val 13333"/>
              </a:avLst>
            </a:prstGeom>
            <a:solidFill>
              <a:srgbClr val="ECFEFF">
                <a:alpha val="90000"/>
              </a:srgbClr>
            </a:solidFill>
            <a:ln w="12700" cap="flat" cmpd="sng">
              <a:solidFill>
                <a:srgbClr val="00E5FF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16000" y="5969000"/>
              <a:ext cx="10160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b="1" i="0" u="none" strike="noStrike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预期效果</a:t>
              </a:r>
              <a:r>
                <a:rPr lang="en-US" b="1" i="0" u="none" strike="noStrike" err="1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通过在训练阶段针对性引入混淆集，引导模型学习汉字间的细微差别，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显著降低因发音或字形相似而导致的识别错误率</a:t>
              </a:r>
              <a:endParaRPr lang="en-US" sz="11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59642" y="2114455"/>
            <a:ext cx="5207000" cy="3302000"/>
            <a:chOff x="762000" y="2286000"/>
            <a:chExt cx="5207000" cy="3302000"/>
          </a:xfrm>
        </p:grpSpPr>
        <p:sp>
          <p:nvSpPr>
            <p:cNvPr id="5" name="AutoShape 5"/>
            <p:cNvSpPr/>
            <p:nvPr/>
          </p:nvSpPr>
          <p:spPr>
            <a:xfrm>
              <a:off x="762000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2857500" y="2393789"/>
              <a:ext cx="2921000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spcAft>
                  <a:spcPts val="1200"/>
                </a:spcAft>
                <a:defRPr/>
              </a:pPr>
              <a:r>
                <a:rPr lang="en-US" sz="1900" b="1" i="0" u="none" strike="noStrike">
                  <a:solidFill>
                    <a:srgbClr val="00E5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lang="en-US" sz="1900" b="1" i="0" u="none" strike="noStrike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音近混淆集</a:t>
              </a:r>
              <a:endParaRPr 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构建方法：</a:t>
              </a:r>
              <a:r>
                <a:rPr lang="zh-CN" altLang="en-US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可以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利用 </a:t>
              </a:r>
              <a:r>
                <a:rPr lang="en-US" b="0" i="0" u="none" strike="noStrike">
                  <a:solidFill>
                    <a:srgbClr val="374151"/>
                  </a:solidFill>
                  <a:highlight>
                    <a:srgbClr val="00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pypinyin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库</a:t>
              </a:r>
              <a:r>
                <a:rPr lang="zh-CN" alt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等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提取拼音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，将同音字自动聚类分组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核心作用</a:t>
              </a:r>
              <a:r>
                <a:rPr lang="en-US" b="1" i="0" u="none" strike="noStrike" err="1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提升模型对“同音异形”错误的语境辨别能力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典型示例：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[的 / 得 / 地]、[进 / 近]、[以 / 已]、[再 / 在]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743" y="2540000"/>
              <a:ext cx="1890014" cy="25994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kumimoji="0" lang="en-US" sz="3200" b="1" i="0" u="none" strike="noStrike" kern="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项目创新点：混淆集增强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1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Noto Sans SC" panose="020B0200000000000000" charset="-122"/>
              </a:rPr>
              <a:t>本项目的核心创新在于将 音近 / 形近混淆集 作为先验知识引入模型训练过程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，针对性地强化模型对高频易错字的识别与纠错能力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62000" y="2114550"/>
            <a:ext cx="10668000" cy="4563110"/>
            <a:chOff x="736895" y="2286000"/>
            <a:chExt cx="5207000" cy="3302000"/>
          </a:xfrm>
        </p:grpSpPr>
        <p:sp>
          <p:nvSpPr>
            <p:cNvPr id="5" name="AutoShape 5"/>
            <p:cNvSpPr/>
            <p:nvPr/>
          </p:nvSpPr>
          <p:spPr>
            <a:xfrm>
              <a:off x="736895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>
              <a:off x="969678" y="2476500"/>
              <a:ext cx="4661107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E5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kumimoji="0" 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混淆集</a:t>
              </a:r>
              <a:r>
                <a:rPr kumimoji="0" lang="zh-CN" alt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引入到模型训练策略</a:t>
              </a:r>
              <a:endPara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在预训练</a:t>
              </a:r>
              <a:r>
                <a:rPr lang="en-US" altLang="zh-CN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/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微调阶段，提高混淆字被选中的概率（而非均匀采样词汇表）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构造训练样本时，错误位置优先使用混淆集中的字进行替换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在损失函数中加入混淆字区分辅助损失（如有混淆集内的字出现，加大惩罚权重）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4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在推理阶段，预测时候选集缩小到混淆集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核心方法：</a:t>
              </a:r>
              <a:endParaRPr lang="zh-CN" altLang="en-US" sz="1900" b="1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1.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数据层：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利用混淆集构造错误样本，数据格式为自回归生成对</a:t>
              </a:r>
              <a:endParaRPr lang="en-US" altLang="zh-CN" sz="190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lvl="0">
                <a:lnSpc>
                  <a:spcPct val="147000"/>
                </a:lnSpc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训练层：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使用自回归交叉熵损失，对正确位置施加逐</a:t>
              </a:r>
              <a:r>
                <a:rPr lang="en-US" altLang="zh-CN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token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拷贝加权，使用</a:t>
              </a:r>
              <a:r>
                <a:rPr lang="en-US" altLang="zh-CN" sz="190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AMP BF16 + </a:t>
              </a:r>
              <a:r>
                <a:rPr lang="zh-CN" altLang="en-US" sz="190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梯度累加全参数高效训练。</a:t>
              </a:r>
              <a:endParaRPr lang="en-US" altLang="zh-CN" sz="19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lvl="0">
                <a:lnSpc>
                  <a:spcPct val="147000"/>
                </a:lnSpc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预测层：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在自回归生成每一步，利用混淆集实施受限解码。</a:t>
              </a:r>
              <a:endParaRPr lang="zh-CN" altLang="en-US" sz="190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数据与模型资源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3999"/>
            <a:ext cx="5207000" cy="221017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丰富的数据集支持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39031" y="2509484"/>
            <a:ext cx="4526059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MD-CSC: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多领域中文拼写纠错数据集，覆盖法律、医疗等垂直领域，数据真实度高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SIGHAN 2015: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公认的中文拼写纠错领域标准评测数据集，用于模型基准测试。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社区开源: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shibing624/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chinese_text_correction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覆盖社交媒体、新闻等多种真实场景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CTCResources: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哈工大讯飞联合实验室整理的中文文本纠错领域全资源汇总。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24756" b="24756"/>
          <a:stretch>
            <a:fillRect/>
          </a:stretch>
        </p:blipFill>
        <p:spPr>
          <a:xfrm>
            <a:off x="1016000" y="4826000"/>
            <a:ext cx="4699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223000" y="1524000"/>
            <a:ext cx="5207000" cy="221016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工具与参考模型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453969" y="2501900"/>
            <a:ext cx="4595031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对比</a:t>
            </a:r>
            <a:r>
              <a:rPr lang="en-US" altLang="zh-CN" sz="13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Baseline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哈工大讯飞发布的 Chinese-BERT-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wwm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中文预训练模型</a:t>
            </a:r>
            <a:r>
              <a:rPr lang="zh-CN" altLang="en-US" sz="13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pycorrector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，集成多种主流纠错算法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但没有混淆集约束。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混淆集构建: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imewlconverter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提取输入法同音混淆对，结合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HomoglyphsCJK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构建形近字混淆集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资源平台: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所有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参考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模型与数据集均</a:t>
            </a:r>
            <a:r>
              <a:rPr lang="zh-CN" altLang="en-US" sz="13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开源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 GitHub 和 Hugging Face。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22897" b="22897"/>
          <a:stretch>
            <a:fillRect/>
          </a:stretch>
        </p:blipFill>
        <p:spPr>
          <a:xfrm>
            <a:off x="6477000" y="4953000"/>
            <a:ext cx="20955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9090" b="9090"/>
          <a:stretch>
            <a:fillRect/>
          </a:stretch>
        </p:blipFill>
        <p:spPr>
          <a:xfrm>
            <a:off x="8953500" y="4953000"/>
            <a:ext cx="20955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81913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实验设计（仅改变混淆集相关模块，其余设置保持一致）</a:t>
            </a:r>
            <a:endParaRPr lang="zh-CN" altLang="en-US" sz="32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28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zh-CN" alt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对比实验设置</a:t>
            </a:r>
            <a:endParaRPr lang="zh-CN" altLang="en-US" sz="2200" b="1" i="0" u="none" strike="noStrike">
              <a:solidFill>
                <a:srgbClr val="00E5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329184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21" y="2658665"/>
            <a:ext cx="9431558" cy="29265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07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进度安排与预期成果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en-US" sz="2200" b="1" i="0" u="none" strike="noStrike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技术路线与时间规划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54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数据准备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收集中文语料，构建高质量的音近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形近混淆集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413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19500" y="254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模型构建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从零实现核心组件</a:t>
            </a: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，搭建基础纠错网络架构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873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预训练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在人工构造的错误数据上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，进行模型预训练。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37465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19500" y="3873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微调与评估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在CSC公开数据集上进行模型微调，并完成基础性能评测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43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实验对比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进行混淆集增强前后的消融实验，量化分析方法有效性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92500" y="5080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619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报告撰写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整理实验结果，完成最终的研究报告与答辩演示PPT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2999" y="1524000"/>
            <a:ext cx="5330245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en-US" sz="2200" b="1" i="0" u="none" strike="noStrike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预期成果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60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2598193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轻量级纠错模型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实现一个可运行的中文拼写纠错模型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参数量≤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20M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，推理延迟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&lt;50ms/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句，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且代码具备可扩展性。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953500" y="2413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500" y="2603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25000" y="2565400"/>
            <a:ext cx="171393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标准评测结果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在SIGHAN等权威数据集上提交模型，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纠正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F1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达到与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BERT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基线可比水平，过纠率显著低于无约束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GPT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基线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4318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508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499" y="4470400"/>
            <a:ext cx="1720187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混淆集构建方案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沉淀一套高效的音近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形近混淆集构建方法，以及配套的开源代码工具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953500" y="4318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4508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524999" y="4470400"/>
            <a:ext cx="1713931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对比分析报告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撰写详细的实验对比分析报告，论证混淆集增强技术的有效性与价值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87045" y="3927475"/>
            <a:ext cx="1124902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本项目主要研究</a:t>
            </a:r>
            <a:r>
              <a:rPr lang="en-US" sz="4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“</a:t>
            </a:r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LLM</a:t>
            </a:r>
            <a:r>
              <a:rPr lang="en-US" sz="4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+ </a:t>
            </a:r>
            <a:r>
              <a:rPr lang="en-US" sz="4800" b="1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先验知识融合”的中文拼写纠错方法</a:t>
            </a:r>
            <a:endParaRPr lang="zh-CN" altLang="en-US" sz="28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1574421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2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3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4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5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6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7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8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9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10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ags/tag11.xml><?xml version="1.0" encoding="utf-8"?>
<p:tagLst xmlns:p="http://schemas.openxmlformats.org/presentationml/2006/main">
  <p:tag name="KSO_WM_DIAGRAM_VIRTUALLY_FRAME" val="{&quot;height&quot;:380.00007874015745,&quot;left&quot;:60,&quot;top&quot;:119.99992125984252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2533</Words>
  <Application>WPS 演示</Application>
  <PresentationFormat>宽屏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Noto Sans SC</vt:lpstr>
      <vt:lpstr>华文中宋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Aurora</cp:lastModifiedBy>
  <cp:revision>51</cp:revision>
  <dcterms:created xsi:type="dcterms:W3CDTF">2026-04-27T01:18:00Z</dcterms:created>
  <dcterms:modified xsi:type="dcterms:W3CDTF">2026-04-27T12:43:03Z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472ADE4100B4434A86867E7ACE099501_13</vt:lpwstr>
  </property>
</Properties>
</file>